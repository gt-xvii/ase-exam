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B3E8C50-9F58-5237-7C41-C721E3BAA428}" name="Di Monaco, Antonio" initials="AD" userId="S::antonio.di.monaco@sap.com::719b72b0-0350-4d19-9a7f-748728a101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00"/>
    <p:restoredTop sz="94660"/>
  </p:normalViewPr>
  <p:slideViewPr>
    <p:cSldViewPr snapToGrid="0">
      <p:cViewPr varScale="1">
        <p:scale>
          <a:sx n="137" d="100"/>
          <a:sy n="137" d="100"/>
        </p:scale>
        <p:origin x="52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5BD452-70C7-7D43-DE79-395EC2D5AA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77222D-C06B-5CD4-B200-730FB65A8E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42657-6240-B14B-9F48-F865CB79AC7C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16D15-E1AC-47B8-BF91-C30978D1B0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759E4-6272-9520-00E8-FE3F63A8D3D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5DFA7A-FF33-C64E-B529-8BCC138EF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1349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Advanced Software Engineering - 1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B121A-761B-2742-9D61-65348EACD743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Design Patterns - Creational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659E5-EFBC-DB40-B048-B7FD703FB7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1645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C6D0-5512-F16D-A0CB-B72D25DE2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12CC4-D335-C33A-9B0A-689A95B7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D5E48-8338-AC1F-6E5F-D8999FEBF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9770-F4DB-5A46-8A49-C16D1902D38D}" type="datetime1"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F1100-D604-5C2D-7C49-74A286EA2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38D9-1B5A-E778-95C0-AF4682C3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352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A693-A74F-F8E3-AD6A-0332BA4B8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7BD10-0BF7-1F3F-59C4-F701A755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3507-7FCB-4052-7D4E-E0E661B8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0FD28-9746-8F4F-8DBB-904BA8BDED9E}" type="datetime1"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CF9F4-E7EF-D596-F08B-70C65EFF8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1335D-13AC-DE52-4FB3-F21D0F4A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25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6974-425E-2DAD-9A21-BA079617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01BC8-2575-E2E6-B061-F7EE5B50C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7BA54-9635-D484-B680-4616CD98E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E08BFA-2FC9-9F49-ADA6-907F4DDB8143}" type="datetime1"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CA804-2107-34D8-E78B-2A7FFFB9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8FD9B-7CDC-60DE-0DC1-06904DCB4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90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72E-B1A4-D336-D790-D89C1E791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17E8D-C5B1-602E-EAC6-EB6FA3EE17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B62D6-18E8-14F8-E378-8E10073C8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66E2-2C5F-9236-3F60-A87A6B34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24B08-C44F-AB4E-AC37-0721AFA65C93}" type="datetime1"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63519-F2FC-412C-3914-030E96B37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3F7ABC-C7BA-0E16-8652-D4FB52E8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22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A9EAA-6C94-CE7A-96FB-FF6B2F18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42EFD-CF2B-1D2E-7819-E2EBC8E19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80BC-743C-1D56-4519-FAAC1140E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E74647-A3CD-CD27-25B6-C1CB38035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D464C-F134-5223-06A8-93C17D00FB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3B48B-CF79-443F-E609-240A9AD9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2715-784A-EF47-8BB8-1EC61654F888}" type="datetime1"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2D30F-6B06-D928-93A9-7BFCC033B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5A9A56-6E9F-7FCB-C081-AB1C0B13D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71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BFFED-3B7D-D363-F6D8-89AB1CD5D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B69165-4CDC-A611-C121-3CA7DEA9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C0B87-2C28-2F42-B149-3DAFEA53ECC4}" type="datetime1"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37B45-F436-35A0-1A11-3847788AD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249D-E148-E80F-8FD8-12216ADD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621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29C19-6C7E-FBCF-C0D3-BC2825CF7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D03C-69FA-4241-B68E-D2384FD4F47D}" type="datetime1"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F8B7D5-B148-1242-4C00-81D88102D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565B3-A8E1-6528-1396-C3E42F71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B6B0A-0FFE-C59A-0FDB-B712E2B38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C6137-AB91-B024-3858-0625F2A85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72223-1D56-3876-37AB-AB827894A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5145A-5ACE-4F2E-8C10-D81F5A60B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D19E-9609-2E4A-BDBE-9F0ABB4A5750}" type="datetime1"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D1CE9C-37C5-A4EB-2D87-B45D168B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DA687-831D-6087-7C77-C236A471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10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5D35-BDA7-8A9B-5FE8-19ED22B1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9E14BC-B1A6-7914-CA5E-3491D5093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69EAF5-4292-2E66-1BA9-931773EEC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D9A49-D6E3-429F-B82D-DD18B58F5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C7064-511E-F24C-A670-C288EFD8459A}" type="datetime1"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FD04-DB58-C9EB-75F0-97413C2C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B13049-D1B6-FDF7-C4FA-F1C43AC61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12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7E8EE-477E-ECFB-0E65-CD52E05BF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9C616-6082-E08E-4642-B87DE66B8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289D1-5083-F77D-B918-E888FE2BD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65F8A-9164-4C4B-B78B-A266D999FBA9}" type="datetime1"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9B412-8604-155E-9048-BCEAA5F8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B81FC-B75F-EB66-0310-834FD5ED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4BFC86-9762-DFC3-7CD6-D3F9D73D9F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56E57-9E5C-69B9-F8AE-49A68E29D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ED425-82B9-9E5C-85DE-50375387C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AE3B-8055-3B43-BD4F-85DF2A40E3D4}" type="datetime1"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33BA-4ED4-16BD-862C-CA2CC2E39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C00BD-6373-F5B3-CF96-94569E93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0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B6CD59-EDAF-CA69-6ACB-CAD4CEB9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53310-4114-A479-F299-36FC9ECFE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501-C88C-FFD9-4D05-DAEFB3B811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2467D-5471-4140-A420-FCA960EC8A58}" type="datetime1"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1AE9D-4006-22D3-9F53-03EFBB7E47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9D29-9B98-65F3-7AC9-22F3C883F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81C8F-CB39-4E4D-98E4-8C3FEDF75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29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6CC111-4FC3-7E6E-DA79-351238E3FC6C}"/>
              </a:ext>
            </a:extLst>
          </p:cNvPr>
          <p:cNvSpPr txBox="1"/>
          <p:nvPr/>
        </p:nvSpPr>
        <p:spPr>
          <a:xfrm>
            <a:off x="535709" y="1287983"/>
            <a:ext cx="292766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Concurrency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Definitions &amp; Theory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Race conditions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/>
              <a:t>Design patterns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DAC65D-2BF1-A1DC-E10D-231A3F2A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66554-06DA-C448-4970-80727A8BD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9B88B0-1855-2B75-F573-938C6C9A3F46}"/>
              </a:ext>
            </a:extLst>
          </p:cNvPr>
          <p:cNvSpPr txBox="1"/>
          <p:nvPr/>
        </p:nvSpPr>
        <p:spPr>
          <a:xfrm>
            <a:off x="535709" y="304800"/>
            <a:ext cx="821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Topics</a:t>
            </a:r>
          </a:p>
        </p:txBody>
      </p:sp>
    </p:spTree>
    <p:extLst>
      <p:ext uri="{BB962C8B-B14F-4D97-AF65-F5344CB8AC3E}">
        <p14:creationId xmlns:p14="http://schemas.microsoft.com/office/powerpoint/2010/main" val="2953013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D756A-88FE-B6B1-C68F-22132D00D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F2F3F-E289-93F8-38CE-1C4A00531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FC614-187E-2FCD-928A-003786E69CE7}"/>
              </a:ext>
            </a:extLst>
          </p:cNvPr>
          <p:cNvSpPr txBox="1"/>
          <p:nvPr/>
        </p:nvSpPr>
        <p:spPr>
          <a:xfrm>
            <a:off x="404037" y="246221"/>
            <a:ext cx="1472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Concurrency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C4A68-3AD8-911B-CBEE-1D4105C2EA57}"/>
              </a:ext>
            </a:extLst>
          </p:cNvPr>
          <p:cNvSpPr txBox="1"/>
          <p:nvPr/>
        </p:nvSpPr>
        <p:spPr>
          <a:xfrm>
            <a:off x="404037" y="856357"/>
            <a:ext cx="11153554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Concurrency is the ability of a system to manage multiple tasks independently, where tasks can interleave their execution over a period of time.</a:t>
            </a:r>
          </a:p>
          <a:p>
            <a:endParaRPr lang="en-US" sz="1600"/>
          </a:p>
          <a:p>
            <a:r>
              <a:rPr lang="en-US" sz="1600"/>
              <a:t>It’s not parallelism!!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Concurrency =&gt; Multiple tasks making progress, but not necessarily simultaneously.</a:t>
            </a:r>
            <a:br>
              <a:rPr lang="en-US" sz="1600"/>
            </a:br>
            <a:r>
              <a:rPr lang="en-US" sz="1200"/>
              <a:t>Example: A single-core CPUswitching between tasks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Parallelism =&gt; Multiple tasks executing literally at the same time on multiple cores/processors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r>
              <a:rPr lang="en-US" sz="1600"/>
              <a:t>Why it matters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I/O-Heavy Operations</a:t>
            </a:r>
            <a:br>
              <a:rPr lang="en-US" sz="1600"/>
            </a:br>
            <a:r>
              <a:rPr lang="en-US" sz="1200"/>
              <a:t>Network requests, database queries, file operations often have long wait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Multi-Core Systems</a:t>
            </a:r>
            <a:br>
              <a:rPr lang="en-US" sz="1600"/>
            </a:br>
            <a:r>
              <a:rPr lang="en-US" sz="1200"/>
              <a:t>Modern processors have multiple cores; single-threaded programs utilize only one</a:t>
            </a:r>
          </a:p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User Responsiveness</a:t>
            </a:r>
            <a:br>
              <a:rPr lang="en-US" sz="1600"/>
            </a:br>
            <a:r>
              <a:rPr lang="en-US" sz="1200"/>
              <a:t>Applications must handle multiple user interactions simultaneously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Server Applications</a:t>
            </a:r>
            <a:br>
              <a:rPr lang="en-US" sz="1600"/>
            </a:br>
            <a:r>
              <a:rPr lang="en-US" sz="1200"/>
              <a:t>Must handle thousands of concurrent client connections</a:t>
            </a:r>
          </a:p>
        </p:txBody>
      </p:sp>
    </p:spTree>
    <p:extLst>
      <p:ext uri="{BB962C8B-B14F-4D97-AF65-F5344CB8AC3E}">
        <p14:creationId xmlns:p14="http://schemas.microsoft.com/office/powerpoint/2010/main" val="84416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B3133-9F19-BA85-B166-039AAE14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34BFEA4-7097-7F83-A71F-EEB6D428173E}"/>
              </a:ext>
            </a:extLst>
          </p:cNvPr>
          <p:cNvSpPr txBox="1"/>
          <p:nvPr/>
        </p:nvSpPr>
        <p:spPr>
          <a:xfrm>
            <a:off x="404037" y="765366"/>
            <a:ext cx="1115355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We need OS tools to make it.</a:t>
            </a:r>
          </a:p>
          <a:p>
            <a:endParaRPr lang="en-US" sz="1600"/>
          </a:p>
          <a:p>
            <a:endParaRPr lang="en-US" sz="1600"/>
          </a:p>
          <a:p>
            <a:r>
              <a:rPr lang="en-US" sz="1600"/>
              <a:t>Concurrent actors:</a:t>
            </a:r>
          </a:p>
          <a:p>
            <a:pPr marL="285750" indent="-285750">
              <a:buFontTx/>
              <a:buChar char="-"/>
            </a:pPr>
            <a:r>
              <a:rPr lang="en-US" sz="1600"/>
              <a:t>Processes</a:t>
            </a:r>
          </a:p>
          <a:p>
            <a:pPr marL="285750" indent="-285750">
              <a:buFontTx/>
              <a:buChar char="-"/>
            </a:pPr>
            <a:endParaRPr lang="en-US" sz="1600"/>
          </a:p>
          <a:p>
            <a:pPr marL="285750" indent="-285750">
              <a:buFontTx/>
              <a:buChar char="-"/>
            </a:pPr>
            <a:r>
              <a:rPr lang="en-US" sz="1600"/>
              <a:t>Threads</a:t>
            </a:r>
          </a:p>
          <a:p>
            <a:pPr marL="742950" lvl="1" indent="-285750">
              <a:buFontTx/>
              <a:buChar char="-"/>
            </a:pPr>
            <a:r>
              <a:rPr lang="en-US" sz="1600"/>
              <a:t>Virtual threads =&gt; implemented by runtime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55FA61-FE30-1B81-8978-3AFAFFE8D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4A063-72AB-4B0E-A8D3-D90E4ABE2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B4DAB-D0DE-BC54-34E8-426948CA5778}"/>
              </a:ext>
            </a:extLst>
          </p:cNvPr>
          <p:cNvSpPr txBox="1"/>
          <p:nvPr/>
        </p:nvSpPr>
        <p:spPr>
          <a:xfrm>
            <a:off x="404037" y="246221"/>
            <a:ext cx="2099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Concurrency - How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197A826-9F93-4DD5-9E5B-2602B300C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09" y="3130428"/>
            <a:ext cx="6934106" cy="2910712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932FD683-7317-2EB4-FCE8-303ACAB81A3E}"/>
              </a:ext>
            </a:extLst>
          </p:cNvPr>
          <p:cNvGrpSpPr/>
          <p:nvPr/>
        </p:nvGrpSpPr>
        <p:grpSpPr>
          <a:xfrm>
            <a:off x="8054413" y="360924"/>
            <a:ext cx="3488762" cy="5921285"/>
            <a:chOff x="8028759" y="246221"/>
            <a:chExt cx="3488762" cy="5921285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11F18779-5B7B-C742-1BBF-0D943A2F2D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0047" y="246221"/>
              <a:ext cx="1161288" cy="11612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NEW</a:t>
              </a:r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FFC9EB7-5CB4-B41B-E005-1A6646D279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0047" y="1982896"/>
              <a:ext cx="1161288" cy="11612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>
                  <a:solidFill>
                    <a:schemeClr val="tx1"/>
                  </a:solidFill>
                </a:rPr>
                <a:t>READY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EFF7BEE-C14C-A56C-9246-F747ABA5E5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28759" y="3594563"/>
              <a:ext cx="1161288" cy="11612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RUNNING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C90409D-9234-EACF-AF7F-361CD9D307E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51335" y="3594563"/>
              <a:ext cx="1166186" cy="116128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>
                  <a:solidFill>
                    <a:schemeClr val="tx1"/>
                  </a:solidFill>
                </a:rPr>
                <a:t>BLOCKED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3197CEF-3359-494A-D471-ADD6ABB77D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0047" y="5008611"/>
              <a:ext cx="1158895" cy="115889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>
                  <a:solidFill>
                    <a:schemeClr val="tx1"/>
                  </a:solidFill>
                </a:rPr>
                <a:t>TERMINATED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8243782-6F1C-A5FF-16AD-B6818AFA4EF0}"/>
                </a:ext>
              </a:extLst>
            </p:cNvPr>
            <p:cNvCxnSpPr>
              <a:stCxn id="2" idx="4"/>
              <a:endCxn id="3" idx="0"/>
            </p:cNvCxnSpPr>
            <p:nvPr/>
          </p:nvCxnSpPr>
          <p:spPr>
            <a:xfrm>
              <a:off x="9770691" y="1407509"/>
              <a:ext cx="0" cy="5753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F65D7B7-4864-EF50-7D86-569D3EF9526D}"/>
                </a:ext>
              </a:extLst>
            </p:cNvPr>
            <p:cNvCxnSpPr>
              <a:stCxn id="3" idx="3"/>
              <a:endCxn id="8" idx="0"/>
            </p:cNvCxnSpPr>
            <p:nvPr/>
          </p:nvCxnSpPr>
          <p:spPr>
            <a:xfrm flipH="1">
              <a:off x="8609403" y="2974117"/>
              <a:ext cx="750711" cy="620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3C67C74F-6D4F-4A59-9C8A-014265181E4D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9190047" y="4175207"/>
              <a:ext cx="1161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74EE706B-3A93-36A1-7B9D-5591187F4E3D}"/>
                </a:ext>
              </a:extLst>
            </p:cNvPr>
            <p:cNvCxnSpPr>
              <a:stCxn id="9" idx="0"/>
              <a:endCxn id="3" idx="5"/>
            </p:cNvCxnSpPr>
            <p:nvPr/>
          </p:nvCxnSpPr>
          <p:spPr>
            <a:xfrm flipH="1" flipV="1">
              <a:off x="10181268" y="2974117"/>
              <a:ext cx="753160" cy="6204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FEC3C1A-A32D-2032-92E4-5E418237FFAB}"/>
                </a:ext>
              </a:extLst>
            </p:cNvPr>
            <p:cNvCxnSpPr>
              <a:stCxn id="8" idx="5"/>
              <a:endCxn id="10" idx="0"/>
            </p:cNvCxnSpPr>
            <p:nvPr/>
          </p:nvCxnSpPr>
          <p:spPr>
            <a:xfrm>
              <a:off x="9019980" y="4585784"/>
              <a:ext cx="749515" cy="42282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4580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1BF2D-2C5B-768A-D05C-1F907686B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D1AE3-D429-0241-FD9D-FDE50BCAC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2E0F89-8BFE-FD35-7459-84B4F217D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DFA4AA-9D92-987A-33B5-07ABB3C36CC8}"/>
              </a:ext>
            </a:extLst>
          </p:cNvPr>
          <p:cNvSpPr txBox="1"/>
          <p:nvPr/>
        </p:nvSpPr>
        <p:spPr>
          <a:xfrm>
            <a:off x="404037" y="246221"/>
            <a:ext cx="1793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Race conditions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61E93-7C09-43DA-AB7C-30C0BE7307F7}"/>
              </a:ext>
            </a:extLst>
          </p:cNvPr>
          <p:cNvSpPr txBox="1"/>
          <p:nvPr/>
        </p:nvSpPr>
        <p:spPr>
          <a:xfrm>
            <a:off x="404037" y="856357"/>
            <a:ext cx="11153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race condition occurs when the outcome of a program depends on the timing of thread execution, leading to unpredictable behavior.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282240-26F2-2DFB-5232-F373B54A591C}"/>
              </a:ext>
            </a:extLst>
          </p:cNvPr>
          <p:cNvSpPr txBox="1"/>
          <p:nvPr/>
        </p:nvSpPr>
        <p:spPr>
          <a:xfrm>
            <a:off x="308919" y="1853514"/>
            <a:ext cx="3531736" cy="32316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BankAccount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private int balance = 1000;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void withdraw(int amount)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if (balance &gt;= amount)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// Critical window:</a:t>
            </a:r>
            <a:b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// another thread could read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// balance here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balance = balance - amount;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// and execute concurrently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int getBalance()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return balance;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075B03-37D2-F4B5-53D4-D380F5DF0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535410"/>
              </p:ext>
            </p:extLst>
          </p:nvPr>
        </p:nvGraphicFramePr>
        <p:xfrm>
          <a:off x="4038600" y="2421925"/>
          <a:ext cx="8128000" cy="3774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9589710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7170564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1314430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6835442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Possible timeline of disaster: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964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Time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Thread 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Thread 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Memory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4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read balance (1000) in CPU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balance = 1000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262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subtract 500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balance = 1000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8875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read balance (1000) in CPU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balance = 1000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414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write 500 to memory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balance = 500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9943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subtract 600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balance = 500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511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write 400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balance = 400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35798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7838C2E-0393-E639-60B8-BAC1414DE2CC}"/>
              </a:ext>
            </a:extLst>
          </p:cNvPr>
          <p:cNvSpPr txBox="1"/>
          <p:nvPr/>
        </p:nvSpPr>
        <p:spPr>
          <a:xfrm>
            <a:off x="4038600" y="1500642"/>
            <a:ext cx="25869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 A: withdraw(500)</a:t>
            </a:r>
          </a:p>
          <a:p>
            <a:r>
              <a:rPr lang="en-US"/>
              <a:t>Thread B: withdraw(600)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616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1090-9B0E-ABE2-C8FC-C9F4B2C1A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079014-3CC7-045B-8BF6-5AAF724E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6ACB04-34B0-3B58-99C0-22295096E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98DCB8-AEE5-D2F1-E35A-31F7FAE83163}"/>
              </a:ext>
            </a:extLst>
          </p:cNvPr>
          <p:cNvSpPr txBox="1"/>
          <p:nvPr/>
        </p:nvSpPr>
        <p:spPr>
          <a:xfrm>
            <a:off x="404037" y="246221"/>
            <a:ext cx="770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8DE42-1823-7115-3010-8B29FB4F3CD6}"/>
              </a:ext>
            </a:extLst>
          </p:cNvPr>
          <p:cNvSpPr txBox="1"/>
          <p:nvPr/>
        </p:nvSpPr>
        <p:spPr>
          <a:xfrm>
            <a:off x="404037" y="856357"/>
            <a:ext cx="11153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First fix approach to race conditions =&gt; critical sections or explicit locks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A05E4-5C29-5DD4-B625-6E4C01BECE94}"/>
              </a:ext>
            </a:extLst>
          </p:cNvPr>
          <p:cNvSpPr txBox="1"/>
          <p:nvPr/>
        </p:nvSpPr>
        <p:spPr>
          <a:xfrm>
            <a:off x="404037" y="1813173"/>
            <a:ext cx="474040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BankAccount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private int balance = 1000;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synchronized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void withdraw(int amount)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if (balance &gt;= amount)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balance = balance - amount;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int getBalance()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return balance;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547B3D-16C6-53C6-9B0E-0972C619DFB7}"/>
              </a:ext>
            </a:extLst>
          </p:cNvPr>
          <p:cNvSpPr txBox="1"/>
          <p:nvPr/>
        </p:nvSpPr>
        <p:spPr>
          <a:xfrm>
            <a:off x="5773773" y="1466493"/>
            <a:ext cx="5205271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import java.util.concurrent.locks.ReentrantLock;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BankAccount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 ReentrantLock lock = new ReentrantLock();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private int balance = 1000;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void withdraw(int amount)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lock.lock();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if (balance &gt;= amount)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balance = balance - amount;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 finally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lock.unlock(); // MUST unlock, even on exception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int getBalance()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return balance;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CDAC8F-3729-969B-05E9-154AF0627DE0}"/>
              </a:ext>
            </a:extLst>
          </p:cNvPr>
          <p:cNvSpPr txBox="1"/>
          <p:nvPr/>
        </p:nvSpPr>
        <p:spPr>
          <a:xfrm>
            <a:off x="395230" y="4528870"/>
            <a:ext cx="3643370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Advantages of locks over synchronized: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Explicit control (lock/unlock)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Timed lock acquisition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Interruptible locking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Multiple condition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BEWARE OF DEADLOCKS!</a:t>
            </a:r>
          </a:p>
        </p:txBody>
      </p:sp>
    </p:spTree>
    <p:extLst>
      <p:ext uri="{BB962C8B-B14F-4D97-AF65-F5344CB8AC3E}">
        <p14:creationId xmlns:p14="http://schemas.microsoft.com/office/powerpoint/2010/main" val="341831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AAAFF-ED20-0EAF-D076-CB623609B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15D00D-2BD0-0E51-EAA1-8FC4F62E1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62C7A-E34C-75A0-2E2B-5A54BD49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F4FC5-D140-016C-B0C2-4140DC8E0650}"/>
              </a:ext>
            </a:extLst>
          </p:cNvPr>
          <p:cNvSpPr txBox="1"/>
          <p:nvPr/>
        </p:nvSpPr>
        <p:spPr>
          <a:xfrm>
            <a:off x="404037" y="246221"/>
            <a:ext cx="2206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Threads – the basics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E1C964-3F7D-F5FA-F583-69AED6FD3CFA}"/>
              </a:ext>
            </a:extLst>
          </p:cNvPr>
          <p:cNvSpPr txBox="1"/>
          <p:nvPr/>
        </p:nvSpPr>
        <p:spPr>
          <a:xfrm>
            <a:off x="404037" y="810706"/>
            <a:ext cx="4740400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WorkerThread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 Thread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private String name;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WorkerThread(String name)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this.name = name;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  <a:b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run()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System.out.println(name + " executing");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public class ThreadDemo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Thread t1 = new WorkerThread("Worker-1");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Thread t2 = new WorkerThread("Worker-2");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t1.start(); // Starts new thread, calls run()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t2.start();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Main thread continues immediately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t1.join(); </a:t>
            </a:r>
            <a:r>
              <a:rPr lang="en-US" sz="12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make sure that we wait for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t2.join(); </a:t>
            </a:r>
            <a:r>
              <a:rPr lang="en-US" sz="1200" b="1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threads to be over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0FC90A-203E-DA8F-0CB3-0E920366D81F}"/>
              </a:ext>
            </a:extLst>
          </p:cNvPr>
          <p:cNvSpPr txBox="1"/>
          <p:nvPr/>
        </p:nvSpPr>
        <p:spPr>
          <a:xfrm>
            <a:off x="6014301" y="627791"/>
            <a:ext cx="5670142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class WorkerRunnable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implements Runnable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private String name;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WorkerRunnable(String name)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this.name = name;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@Override</a:t>
            </a:r>
          </a:p>
          <a:p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public void run() 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System.out.println(name + " executing");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public class RunnableDemo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Thread t1 = new Thread(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WorkerRunnable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("Worker-1"));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Thread t2 = new Thread(</a:t>
            </a:r>
            <a:r>
              <a:rPr lang="en-US" sz="12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 WorkerRunnable</a:t>
            </a: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("Worker-2"));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t1.start();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t2.start();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Main thread continues immediately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t1.join();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t2.join();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502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0B6F8-3198-9E00-FC22-EBCB75146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E7EF7-71F3-CE4D-FD99-098C500D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2904E-C6DB-C9DF-E5D2-206AE3C07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5C6DD5-99F4-3322-A7F3-EBF21AF0373D}"/>
              </a:ext>
            </a:extLst>
          </p:cNvPr>
          <p:cNvSpPr txBox="1"/>
          <p:nvPr/>
        </p:nvSpPr>
        <p:spPr>
          <a:xfrm>
            <a:off x="404037" y="246221"/>
            <a:ext cx="144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Lock objects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5DD9C9-2393-D6DD-2B22-96604234B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08" y="807888"/>
            <a:ext cx="11329842" cy="431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8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3A74F-74F7-1AE4-6B0E-DEE2A51B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C8C9DB-597E-18D1-B0C4-2C0B37E5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D15317-BEBA-83E6-75B9-8C76C84B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398908-215B-5870-AD59-EB40A2C4737A}"/>
              </a:ext>
            </a:extLst>
          </p:cNvPr>
          <p:cNvSpPr txBox="1"/>
          <p:nvPr/>
        </p:nvSpPr>
        <p:spPr>
          <a:xfrm>
            <a:off x="404037" y="246221"/>
            <a:ext cx="2265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Threads – challenges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89714-9FC3-FB20-F796-930815B27916}"/>
              </a:ext>
            </a:extLst>
          </p:cNvPr>
          <p:cNvSpPr txBox="1"/>
          <p:nvPr/>
        </p:nvSpPr>
        <p:spPr>
          <a:xfrm>
            <a:off x="404037" y="970383"/>
            <a:ext cx="583576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Raw threads have the following drawbacks: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Creating new thread for each task is expensive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control over thread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Difficult to manage lifecycle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Manual synchronization, that could bring to deadlocks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BC18FA4-8874-6C8E-5458-9C1044992B46}"/>
              </a:ext>
            </a:extLst>
          </p:cNvPr>
          <p:cNvGrpSpPr/>
          <p:nvPr/>
        </p:nvGrpSpPr>
        <p:grpSpPr>
          <a:xfrm>
            <a:off x="7615463" y="2342305"/>
            <a:ext cx="973558" cy="1259954"/>
            <a:chOff x="7884367" y="1082351"/>
            <a:chExt cx="973558" cy="125995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90FA34-CE02-047C-F6DC-E51CD60AB87C}"/>
                </a:ext>
              </a:extLst>
            </p:cNvPr>
            <p:cNvSpPr/>
            <p:nvPr/>
          </p:nvSpPr>
          <p:spPr>
            <a:xfrm>
              <a:off x="7884367" y="1082351"/>
              <a:ext cx="961053" cy="4665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Lock A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500C19-C640-E71C-F6B4-319B7EF4F8B2}"/>
                </a:ext>
              </a:extLst>
            </p:cNvPr>
            <p:cNvSpPr/>
            <p:nvPr/>
          </p:nvSpPr>
          <p:spPr>
            <a:xfrm>
              <a:off x="7896872" y="1875774"/>
              <a:ext cx="961053" cy="4665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Lock B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3375E89-46B6-8EF0-9CC5-23F697CA6D17}"/>
                </a:ext>
              </a:extLst>
            </p:cNvPr>
            <p:cNvCxnSpPr>
              <a:stCxn id="11" idx="2"/>
              <a:endCxn id="13" idx="0"/>
            </p:cNvCxnSpPr>
            <p:nvPr/>
          </p:nvCxnSpPr>
          <p:spPr>
            <a:xfrm>
              <a:off x="8364894" y="1548882"/>
              <a:ext cx="12505" cy="3268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FDCFC36-3BFD-F5F4-7E5E-70666EC881E2}"/>
              </a:ext>
            </a:extLst>
          </p:cNvPr>
          <p:cNvGrpSpPr/>
          <p:nvPr/>
        </p:nvGrpSpPr>
        <p:grpSpPr>
          <a:xfrm>
            <a:off x="9783899" y="2342305"/>
            <a:ext cx="973558" cy="1259954"/>
            <a:chOff x="9667604" y="1082351"/>
            <a:chExt cx="973558" cy="125995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BA0BD3A-2B0E-0488-31DF-A135BF54D50F}"/>
                </a:ext>
              </a:extLst>
            </p:cNvPr>
            <p:cNvSpPr/>
            <p:nvPr/>
          </p:nvSpPr>
          <p:spPr>
            <a:xfrm>
              <a:off x="9667604" y="1082351"/>
              <a:ext cx="961053" cy="4665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Lock B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BC6AAD-697D-A4CA-48C4-836B5E91CCB4}"/>
                </a:ext>
              </a:extLst>
            </p:cNvPr>
            <p:cNvSpPr/>
            <p:nvPr/>
          </p:nvSpPr>
          <p:spPr>
            <a:xfrm>
              <a:off x="9680109" y="1875774"/>
              <a:ext cx="961053" cy="4665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Lock A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D5054EE-24A0-3653-2252-BA89B40B56AA}"/>
                </a:ext>
              </a:extLst>
            </p:cNvPr>
            <p:cNvCxnSpPr>
              <a:stCxn id="12" idx="2"/>
              <a:endCxn id="14" idx="0"/>
            </p:cNvCxnSpPr>
            <p:nvPr/>
          </p:nvCxnSpPr>
          <p:spPr>
            <a:xfrm>
              <a:off x="10148131" y="1548882"/>
              <a:ext cx="12505" cy="3268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6D2D6503-70BF-237E-C088-2A8EC445F84C}"/>
              </a:ext>
            </a:extLst>
          </p:cNvPr>
          <p:cNvSpPr/>
          <p:nvPr/>
        </p:nvSpPr>
        <p:spPr>
          <a:xfrm>
            <a:off x="7381188" y="801814"/>
            <a:ext cx="1442109" cy="466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Resource 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7906B9-6CE0-BA56-3564-F59A4B8F8801}"/>
              </a:ext>
            </a:extLst>
          </p:cNvPr>
          <p:cNvSpPr/>
          <p:nvPr/>
        </p:nvSpPr>
        <p:spPr>
          <a:xfrm>
            <a:off x="9549624" y="838943"/>
            <a:ext cx="1442109" cy="4665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Resource 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7457C9-38B1-E07C-8D75-14CEE8709017}"/>
              </a:ext>
            </a:extLst>
          </p:cNvPr>
          <p:cNvSpPr/>
          <p:nvPr/>
        </p:nvSpPr>
        <p:spPr>
          <a:xfrm>
            <a:off x="7239689" y="1844255"/>
            <a:ext cx="1725105" cy="258294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>
                <a:solidFill>
                  <a:schemeClr val="tx1"/>
                </a:solidFill>
              </a:rPr>
              <a:t>Thread 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F1A300-E2C8-2463-1CF1-BFC1297CE8E7}"/>
              </a:ext>
            </a:extLst>
          </p:cNvPr>
          <p:cNvSpPr/>
          <p:nvPr/>
        </p:nvSpPr>
        <p:spPr>
          <a:xfrm>
            <a:off x="9414377" y="1844255"/>
            <a:ext cx="1725105" cy="258294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>
                <a:solidFill>
                  <a:schemeClr val="tx1"/>
                </a:solidFill>
              </a:rPr>
              <a:t>Thread 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9FF95C-F481-227C-0367-0D9A0DBFB05F}"/>
              </a:ext>
            </a:extLst>
          </p:cNvPr>
          <p:cNvSpPr txBox="1"/>
          <p:nvPr/>
        </p:nvSpPr>
        <p:spPr>
          <a:xfrm>
            <a:off x="6962947" y="4754092"/>
            <a:ext cx="45253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If thread X and thread Y perform the two</a:t>
            </a:r>
          </a:p>
          <a:p>
            <a:r>
              <a:rPr lang="en-US"/>
              <a:t>A and B locks first, then we’re in a deadlock.</a:t>
            </a:r>
          </a:p>
        </p:txBody>
      </p:sp>
    </p:spTree>
    <p:extLst>
      <p:ext uri="{BB962C8B-B14F-4D97-AF65-F5344CB8AC3E}">
        <p14:creationId xmlns:p14="http://schemas.microsoft.com/office/powerpoint/2010/main" val="288198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7D18A-387C-1E30-6B88-42C15BBCB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1F0B5-C260-11C7-661F-5E38C7F3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169B7-7AE4-25D3-53DB-9EFB8BF0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CECD5A-7FD3-AC8A-C04A-CC43BC4E7DDB}"/>
              </a:ext>
            </a:extLst>
          </p:cNvPr>
          <p:cNvSpPr txBox="1"/>
          <p:nvPr/>
        </p:nvSpPr>
        <p:spPr>
          <a:xfrm>
            <a:off x="404037" y="265074"/>
            <a:ext cx="490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 management: thread pools &amp; schedulers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680A1-0B2B-4431-0ABC-15D8A7620FE0}"/>
              </a:ext>
            </a:extLst>
          </p:cNvPr>
          <p:cNvSpPr txBox="1"/>
          <p:nvPr/>
        </p:nvSpPr>
        <p:spPr>
          <a:xfrm>
            <a:off x="404037" y="1065229"/>
            <a:ext cx="5447325" cy="20313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for (Socket clientSocket : incomingConnections)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// Too many context switches, memory pressure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new Thread(() -&gt;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  handleClient(clientSocket);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}).start();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>
              <a:latin typeface="+mj-lt"/>
              <a:cs typeface="Courier New" panose="02070309020205020404" pitchFamily="49" charset="0"/>
            </a:endParaRPr>
          </a:p>
          <a:p>
            <a:r>
              <a:rPr lang="en-US" sz="1400">
                <a:latin typeface="+mj-lt"/>
                <a:cs typeface="Courier New" panose="02070309020205020404" pitchFamily="49" charset="0"/>
              </a:rPr>
              <a:t>1-2 Mb per stack space, space wasted for TLS (Thread Local Storage),</a:t>
            </a:r>
          </a:p>
          <a:p>
            <a:r>
              <a:rPr lang="en-US" sz="1400">
                <a:latin typeface="+mj-lt"/>
                <a:cs typeface="Courier New" panose="02070309020205020404" pitchFamily="49" charset="0"/>
              </a:rPr>
              <a:t>too much context switch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2C93E4-15FF-4118-4A22-58D0146B8364}"/>
              </a:ext>
            </a:extLst>
          </p:cNvPr>
          <p:cNvSpPr txBox="1"/>
          <p:nvPr/>
        </p:nvSpPr>
        <p:spPr>
          <a:xfrm>
            <a:off x="404037" y="3655915"/>
            <a:ext cx="697178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import java.util.concurrent.*;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// Fixed-size thread pool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ExecutorService fixedPool = Executors.newFixedThreadPool(10);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// Cached thread pool (grows as needed, reuses idle threads)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ExecutorService cachedPool = Executors.newCachedThreadPool();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// Single-threaded executor (sequential task execution)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ExecutorService singlePool = Executors.newSingleThreadExecutor();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// Scheduled executor (tasks at specific times)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ScheduledExecutorService scheduled = Executors.newScheduledThreadPool(5);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28969-CFEA-CD12-9360-5B1684292BFF}"/>
              </a:ext>
            </a:extLst>
          </p:cNvPr>
          <p:cNvSpPr txBox="1"/>
          <p:nvPr/>
        </p:nvSpPr>
        <p:spPr>
          <a:xfrm>
            <a:off x="7030012" y="557397"/>
            <a:ext cx="45897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Threads are already part of the pool, they are</a:t>
            </a:r>
          </a:p>
          <a:p>
            <a:r>
              <a:rPr lang="en-US"/>
              <a:t>pre-allocated and handled with the Executor</a:t>
            </a:r>
          </a:p>
          <a:p>
            <a:r>
              <a:rPr lang="en-US"/>
              <a:t>logic</a:t>
            </a:r>
          </a:p>
        </p:txBody>
      </p:sp>
      <p:pic>
        <p:nvPicPr>
          <p:cNvPr id="1026" name="Picture 2" descr="https://en.wikipedia.org/wiki/Thread_pool#/media/File:Thread_pool.svg">
            <a:extLst>
              <a:ext uri="{FF2B5EF4-FFF2-40B4-BE49-F238E27FC236}">
                <a16:creationId xmlns:a16="http://schemas.microsoft.com/office/drawing/2014/main" id="{CA3AF041-1FBD-C53D-570F-4815F59FA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817" y="1982815"/>
            <a:ext cx="4243913" cy="2198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0E3FA8C-E20B-BCE3-23DD-32BF538FB5EB}"/>
              </a:ext>
            </a:extLst>
          </p:cNvPr>
          <p:cNvSpPr txBox="1"/>
          <p:nvPr/>
        </p:nvSpPr>
        <p:spPr>
          <a:xfrm>
            <a:off x="7375817" y="4653933"/>
            <a:ext cx="4589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Increase performance by reduced latency</a:t>
            </a:r>
            <a:br>
              <a:rPr lang="en-US"/>
            </a:br>
            <a:r>
              <a:rPr lang="en-US"/>
              <a:t>	=&gt; no creation or destruction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Limit system load</a:t>
            </a:r>
          </a:p>
        </p:txBody>
      </p:sp>
    </p:spTree>
    <p:extLst>
      <p:ext uri="{BB962C8B-B14F-4D97-AF65-F5344CB8AC3E}">
        <p14:creationId xmlns:p14="http://schemas.microsoft.com/office/powerpoint/2010/main" val="260962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A7919-1CDF-52F0-474B-BF1D129BA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721ED4-6C8A-90B0-22DD-B5AC00B6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F8BEC-5920-FD7C-4C91-0E187C83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97D044-7B07-7C52-19B1-499313D3404D}"/>
              </a:ext>
            </a:extLst>
          </p:cNvPr>
          <p:cNvSpPr txBox="1"/>
          <p:nvPr/>
        </p:nvSpPr>
        <p:spPr>
          <a:xfrm>
            <a:off x="404037" y="265074"/>
            <a:ext cx="5281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Thread management: pools &amp; schedulers -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77A17F-DD04-EE3D-A931-AEFB70B1F400}"/>
              </a:ext>
            </a:extLst>
          </p:cNvPr>
          <p:cNvSpPr txBox="1"/>
          <p:nvPr/>
        </p:nvSpPr>
        <p:spPr>
          <a:xfrm>
            <a:off x="715121" y="952108"/>
            <a:ext cx="6971780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public class ExecutorPatternDemo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throws InterruptedException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ExecutorService executor = Executors.newFixedThreadPool(3); 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Submit multiple tasks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for (int i = 0; i &lt; 10; i++)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final int taskId = i;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executor.submit(() -&gt;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System.out.println("Task " + taskId +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  " on thread " + Thread.currentThread().getName());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try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  Thread.sleep(1000);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} catch (InterruptedException e)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  Thread.currentThread().interrupt();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});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Shutdown gracefully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executor.shutdown();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boolean terminated = executor.awaitTermination(30, TimeUnit.SECONDS);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if (!terminated)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executor.shutdownNow(); // Force shutdown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2A090-BDB5-2B8C-3EB6-46DAAC91BB2C}"/>
              </a:ext>
            </a:extLst>
          </p:cNvPr>
          <p:cNvSpPr txBox="1"/>
          <p:nvPr/>
        </p:nvSpPr>
        <p:spPr>
          <a:xfrm>
            <a:off x="7262695" y="2106269"/>
            <a:ext cx="435741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Prepares a 3-threads pool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All other threads are put in a queue and</a:t>
            </a:r>
            <a:br>
              <a:rPr lang="en-US"/>
            </a:br>
            <a:r>
              <a:rPr lang="en-US"/>
              <a:t>scheduled when a thread from the pool</a:t>
            </a:r>
            <a:br>
              <a:rPr lang="en-US"/>
            </a:br>
            <a:r>
              <a:rPr lang="en-US"/>
              <a:t>is available</a:t>
            </a:r>
          </a:p>
        </p:txBody>
      </p:sp>
    </p:spTree>
    <p:extLst>
      <p:ext uri="{BB962C8B-B14F-4D97-AF65-F5344CB8AC3E}">
        <p14:creationId xmlns:p14="http://schemas.microsoft.com/office/powerpoint/2010/main" val="839225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1B4E4-5795-A5F3-2BDB-86BF2E5D2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FAF05-D17F-74EB-4113-159B25E3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D3244-63B6-B8E4-7E8D-76D33642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C8B50-9A81-2FB0-AAE2-4FC15B8B0777}"/>
              </a:ext>
            </a:extLst>
          </p:cNvPr>
          <p:cNvSpPr txBox="1"/>
          <p:nvPr/>
        </p:nvSpPr>
        <p:spPr>
          <a:xfrm>
            <a:off x="404037" y="265074"/>
            <a:ext cx="9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Futures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467A93-0C50-315B-FB26-2A4908E8446A}"/>
              </a:ext>
            </a:extLst>
          </p:cNvPr>
          <p:cNvSpPr txBox="1"/>
          <p:nvPr/>
        </p:nvSpPr>
        <p:spPr>
          <a:xfrm>
            <a:off x="612742" y="876692"/>
            <a:ext cx="604203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public class FutureCallableDemo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throws Exception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ExecutorService executor = Executors.newFixedThreadPool(2);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Callable returns a result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Callable&lt;Integer&gt; task = () -&gt;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System.out.println("Computing...");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Thread.sleep(2000);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return 42;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Submit task and get Future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Future&lt;Integer&gt; future = executor.submit(task);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System.out.println("Task submitted, doing other work...");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// Block until result is ready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try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Integer result = future.get(5, TimeUnit.SECONDS);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System.out.println("Result: " + result);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 catch (TimeoutException e)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System.out.println("Task took too long");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  future.cancel(true);  // Cancel task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2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  executor.shutdown();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1CD5D-14EB-CA8B-5E93-D055796F6A70}"/>
              </a:ext>
            </a:extLst>
          </p:cNvPr>
          <p:cNvSpPr txBox="1"/>
          <p:nvPr/>
        </p:nvSpPr>
        <p:spPr>
          <a:xfrm>
            <a:off x="7100596" y="2354019"/>
            <a:ext cx="462049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 Future represents the result of an</a:t>
            </a:r>
          </a:p>
          <a:p>
            <a:r>
              <a:rPr lang="en-US"/>
              <a:t>asynchronous computation.</a:t>
            </a:r>
          </a:p>
          <a:p>
            <a:endParaRPr lang="en-US"/>
          </a:p>
          <a:p>
            <a:r>
              <a:rPr lang="en-US"/>
              <a:t>When you fetch the result, if not available</a:t>
            </a:r>
          </a:p>
          <a:p>
            <a:r>
              <a:rPr lang="en-US"/>
              <a:t>yet, the calling thread will block.</a:t>
            </a:r>
          </a:p>
          <a:p>
            <a:endParaRPr lang="en-US"/>
          </a:p>
          <a:p>
            <a:r>
              <a:rPr lang="en-US"/>
              <a:t>Some frameworks/languages allow to cancel</a:t>
            </a:r>
          </a:p>
          <a:p>
            <a:r>
              <a:rPr lang="en-US"/>
              <a:t>them.</a:t>
            </a:r>
          </a:p>
          <a:p>
            <a:endParaRPr lang="en-US"/>
          </a:p>
          <a:p>
            <a:r>
              <a:rPr lang="en-US"/>
              <a:t>(JS Promises cannot be cancelled).</a:t>
            </a:r>
          </a:p>
        </p:txBody>
      </p:sp>
    </p:spTree>
    <p:extLst>
      <p:ext uri="{BB962C8B-B14F-4D97-AF65-F5344CB8AC3E}">
        <p14:creationId xmlns:p14="http://schemas.microsoft.com/office/powerpoint/2010/main" val="1894265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A26E6-F9AE-FDD2-96D8-3BA0AE2F7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F8C4D-0819-9E08-F148-C01E2741E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C2C5C-DA5D-AFEA-4AE3-C5A5E678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A6F3F9-36EE-5BCF-E58D-C234EC1F5B46}"/>
              </a:ext>
            </a:extLst>
          </p:cNvPr>
          <p:cNvSpPr txBox="1"/>
          <p:nvPr/>
        </p:nvSpPr>
        <p:spPr>
          <a:xfrm>
            <a:off x="404037" y="265074"/>
            <a:ext cx="1060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Fork-join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30E650-CAD8-3554-1C64-B989FDA61257}"/>
              </a:ext>
            </a:extLst>
          </p:cNvPr>
          <p:cNvSpPr txBox="1"/>
          <p:nvPr/>
        </p:nvSpPr>
        <p:spPr>
          <a:xfrm>
            <a:off x="404037" y="755780"/>
            <a:ext cx="3906839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import java.util.concurrent.ForkJoinPool;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import java.util.concurrent.RecursiveTask;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public class ForkJoinExample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static class SumTask extends RecursiveTask&lt;Long&gt;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private int[] array;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private int start, end;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private static final int THRESHOLD = 100;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public SumTask(int[] array, int start, int end)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this.array = array;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this.start = start;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this.end = end;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protected Long compute()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if (end - start &lt;= THRESHOLD)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Base case: compute directly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long sum = 0;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for (int i = start; i &lt; end; i++)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sum += array[i];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return sum;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} else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Divide: create subtasks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int mid = (start + end) / 2;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SumTask left = new SumTask(array, start, mid);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SumTask right = new SumTask(array, mid, end);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Fork subtasks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left.fork();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right.fork();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// Join results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long leftResult = left.join();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long rightResult = right.join();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return leftResult + rightResult;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970B8-CB00-0C48-E1D1-FBFA9DA86D25}"/>
              </a:ext>
            </a:extLst>
          </p:cNvPr>
          <p:cNvSpPr txBox="1"/>
          <p:nvPr/>
        </p:nvSpPr>
        <p:spPr>
          <a:xfrm>
            <a:off x="5789460" y="449740"/>
            <a:ext cx="533992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public static void main(String[] args)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int[] array = new int[10000];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for (int i = 0; i &lt; array.length; i++)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  array[i] = i + 1;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ForkJoinPool pool = new ForkJoinPool();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Long result = pool.invoke(new SumTask(array, 0, array.length));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System.out.println("Sum: ” + result);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1FB19B-696E-BB88-362D-21F87FC6BE70}"/>
              </a:ext>
            </a:extLst>
          </p:cNvPr>
          <p:cNvSpPr/>
          <p:nvPr/>
        </p:nvSpPr>
        <p:spPr>
          <a:xfrm>
            <a:off x="8025547" y="2528596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0 - 9999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FEFC08-E0D0-A40F-3B4E-FE36B2E2F34E}"/>
              </a:ext>
            </a:extLst>
          </p:cNvPr>
          <p:cNvSpPr/>
          <p:nvPr/>
        </p:nvSpPr>
        <p:spPr>
          <a:xfrm>
            <a:off x="6465779" y="3246436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0 - 4999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2F171E-C5E8-8C8C-33C9-7594656E4124}"/>
              </a:ext>
            </a:extLst>
          </p:cNvPr>
          <p:cNvSpPr/>
          <p:nvPr/>
        </p:nvSpPr>
        <p:spPr>
          <a:xfrm>
            <a:off x="9572404" y="3246436"/>
            <a:ext cx="1045363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5000 - 9999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5FF6D9-AEDD-2E20-302A-BE5F991B9187}"/>
              </a:ext>
            </a:extLst>
          </p:cNvPr>
          <p:cNvSpPr/>
          <p:nvPr/>
        </p:nvSpPr>
        <p:spPr>
          <a:xfrm>
            <a:off x="5592990" y="4110003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0 - 2499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3EA096-D68C-D653-D9D9-1F08A0F3ACA3}"/>
              </a:ext>
            </a:extLst>
          </p:cNvPr>
          <p:cNvSpPr/>
          <p:nvPr/>
        </p:nvSpPr>
        <p:spPr>
          <a:xfrm>
            <a:off x="7333526" y="4104140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2500 - 4999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ED3290-B875-A9E3-A76E-02490664A4BD}"/>
              </a:ext>
            </a:extLst>
          </p:cNvPr>
          <p:cNvSpPr/>
          <p:nvPr/>
        </p:nvSpPr>
        <p:spPr>
          <a:xfrm>
            <a:off x="8704322" y="4104139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5000 - 7499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B3DEC8-78DB-E3A8-DD0F-FFED6A523C3F}"/>
              </a:ext>
            </a:extLst>
          </p:cNvPr>
          <p:cNvSpPr/>
          <p:nvPr/>
        </p:nvSpPr>
        <p:spPr>
          <a:xfrm>
            <a:off x="10617767" y="4104139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7500 - 9999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624B37-D80C-F558-200A-AC39445A0B60}"/>
              </a:ext>
            </a:extLst>
          </p:cNvPr>
          <p:cNvSpPr/>
          <p:nvPr/>
        </p:nvSpPr>
        <p:spPr>
          <a:xfrm>
            <a:off x="5159116" y="4974797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0 - 99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CA2D73-8B1A-6A08-3982-9B2E71E325E2}"/>
              </a:ext>
            </a:extLst>
          </p:cNvPr>
          <p:cNvSpPr/>
          <p:nvPr/>
        </p:nvSpPr>
        <p:spPr>
          <a:xfrm>
            <a:off x="7333526" y="4969342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4899 - 4999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1E1487-DB94-2E4C-C15E-685A3FAB4FF2}"/>
              </a:ext>
            </a:extLst>
          </p:cNvPr>
          <p:cNvSpPr/>
          <p:nvPr/>
        </p:nvSpPr>
        <p:spPr>
          <a:xfrm>
            <a:off x="8704321" y="4950958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5000 - 5099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543756-ECB2-33D3-E4F4-CB23DA878B38}"/>
              </a:ext>
            </a:extLst>
          </p:cNvPr>
          <p:cNvSpPr/>
          <p:nvPr/>
        </p:nvSpPr>
        <p:spPr>
          <a:xfrm>
            <a:off x="11051640" y="4969341"/>
            <a:ext cx="867747" cy="3651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1"/>
                </a:solidFill>
              </a:rPr>
              <a:t>9899 - 9999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2B9B06A-3BA9-25F5-7E7B-080C0C0E42C3}"/>
              </a:ext>
            </a:extLst>
          </p:cNvPr>
          <p:cNvCxnSpPr>
            <a:stCxn id="8" idx="1"/>
            <a:endCxn id="10" idx="0"/>
          </p:cNvCxnSpPr>
          <p:nvPr/>
        </p:nvCxnSpPr>
        <p:spPr>
          <a:xfrm flipH="1">
            <a:off x="6899653" y="2711159"/>
            <a:ext cx="1125894" cy="535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7EB0B54-C835-E9EE-095A-A74256E2F0FC}"/>
              </a:ext>
            </a:extLst>
          </p:cNvPr>
          <p:cNvCxnSpPr>
            <a:stCxn id="8" idx="3"/>
            <a:endCxn id="11" idx="0"/>
          </p:cNvCxnSpPr>
          <p:nvPr/>
        </p:nvCxnSpPr>
        <p:spPr>
          <a:xfrm>
            <a:off x="8893294" y="2711159"/>
            <a:ext cx="1201792" cy="5352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5110AF6-A93E-542A-C20D-C2D72C5AD9A1}"/>
              </a:ext>
            </a:extLst>
          </p:cNvPr>
          <p:cNvCxnSpPr>
            <a:stCxn id="10" idx="1"/>
            <a:endCxn id="12" idx="0"/>
          </p:cNvCxnSpPr>
          <p:nvPr/>
        </p:nvCxnSpPr>
        <p:spPr>
          <a:xfrm flipH="1">
            <a:off x="6026864" y="3428999"/>
            <a:ext cx="438915" cy="681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1DAD53E-6805-6635-80F7-2B1F1B38B1DC}"/>
              </a:ext>
            </a:extLst>
          </p:cNvPr>
          <p:cNvCxnSpPr>
            <a:stCxn id="10" idx="3"/>
            <a:endCxn id="13" idx="0"/>
          </p:cNvCxnSpPr>
          <p:nvPr/>
        </p:nvCxnSpPr>
        <p:spPr>
          <a:xfrm>
            <a:off x="7333526" y="3428999"/>
            <a:ext cx="433874" cy="6751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B5F65BA-7DB2-6A0D-FBA1-587CDD7183B7}"/>
              </a:ext>
            </a:extLst>
          </p:cNvPr>
          <p:cNvCxnSpPr>
            <a:stCxn id="11" idx="1"/>
            <a:endCxn id="14" idx="0"/>
          </p:cNvCxnSpPr>
          <p:nvPr/>
        </p:nvCxnSpPr>
        <p:spPr>
          <a:xfrm flipH="1">
            <a:off x="9138196" y="3428999"/>
            <a:ext cx="434208" cy="67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3710BE7-E1E9-EAE0-AE1F-593A774B0C51}"/>
              </a:ext>
            </a:extLst>
          </p:cNvPr>
          <p:cNvCxnSpPr>
            <a:stCxn id="11" idx="3"/>
            <a:endCxn id="15" idx="0"/>
          </p:cNvCxnSpPr>
          <p:nvPr/>
        </p:nvCxnSpPr>
        <p:spPr>
          <a:xfrm>
            <a:off x="10617767" y="3428999"/>
            <a:ext cx="433874" cy="675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DEEF3E1-D8ED-16E3-8C8D-5C1F6C3CB004}"/>
              </a:ext>
            </a:extLst>
          </p:cNvPr>
          <p:cNvCxnSpPr>
            <a:stCxn id="12" idx="1"/>
          </p:cNvCxnSpPr>
          <p:nvPr/>
        </p:nvCxnSpPr>
        <p:spPr>
          <a:xfrm flipH="1">
            <a:off x="5346441" y="4292566"/>
            <a:ext cx="246549" cy="676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B3A1A90-E4A7-F06C-DDFB-B4A228322782}"/>
              </a:ext>
            </a:extLst>
          </p:cNvPr>
          <p:cNvCxnSpPr>
            <a:stCxn id="12" idx="2"/>
          </p:cNvCxnSpPr>
          <p:nvPr/>
        </p:nvCxnSpPr>
        <p:spPr>
          <a:xfrm>
            <a:off x="6026864" y="4475128"/>
            <a:ext cx="219457" cy="475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B01951A-FC39-2810-8ED3-B875F4FFC07C}"/>
              </a:ext>
            </a:extLst>
          </p:cNvPr>
          <p:cNvCxnSpPr>
            <a:stCxn id="12" idx="2"/>
          </p:cNvCxnSpPr>
          <p:nvPr/>
        </p:nvCxnSpPr>
        <p:spPr>
          <a:xfrm>
            <a:off x="6026864" y="4475128"/>
            <a:ext cx="433873" cy="494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825F4CF-E405-7BF5-2227-6DA390AD1658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6460737" y="4292566"/>
            <a:ext cx="173328" cy="676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AFB7F4-AE9D-340A-8A47-96BA0C4B5C5B}"/>
              </a:ext>
            </a:extLst>
          </p:cNvPr>
          <p:cNvCxnSpPr>
            <a:stCxn id="13" idx="1"/>
          </p:cNvCxnSpPr>
          <p:nvPr/>
        </p:nvCxnSpPr>
        <p:spPr>
          <a:xfrm flipH="1">
            <a:off x="6899652" y="4286703"/>
            <a:ext cx="433874" cy="6826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E38070E-092F-07C9-3A69-631D7B9869EB}"/>
              </a:ext>
            </a:extLst>
          </p:cNvPr>
          <p:cNvCxnSpPr>
            <a:stCxn id="13" idx="2"/>
          </p:cNvCxnSpPr>
          <p:nvPr/>
        </p:nvCxnSpPr>
        <p:spPr>
          <a:xfrm flipH="1">
            <a:off x="7035282" y="4469265"/>
            <a:ext cx="732118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FDDD8DE-DC25-429B-FDBB-B849BBC88877}"/>
              </a:ext>
            </a:extLst>
          </p:cNvPr>
          <p:cNvCxnSpPr>
            <a:stCxn id="13" idx="2"/>
          </p:cNvCxnSpPr>
          <p:nvPr/>
        </p:nvCxnSpPr>
        <p:spPr>
          <a:xfrm flipH="1">
            <a:off x="7116589" y="4469265"/>
            <a:ext cx="650811" cy="5000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76F4BDA-0D0B-8D1A-2B99-70A2DB5F61DA}"/>
              </a:ext>
            </a:extLst>
          </p:cNvPr>
          <p:cNvCxnSpPr>
            <a:stCxn id="13" idx="2"/>
            <a:endCxn id="17" idx="0"/>
          </p:cNvCxnSpPr>
          <p:nvPr/>
        </p:nvCxnSpPr>
        <p:spPr>
          <a:xfrm>
            <a:off x="7767400" y="4469265"/>
            <a:ext cx="0" cy="500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0F0C9E72-C887-7BB1-F51F-D55ADC00AC6A}"/>
              </a:ext>
            </a:extLst>
          </p:cNvPr>
          <p:cNvSpPr/>
          <p:nvPr/>
        </p:nvSpPr>
        <p:spPr>
          <a:xfrm>
            <a:off x="6026863" y="4974797"/>
            <a:ext cx="1306662" cy="365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9F5C2B4-49FB-BDE7-37A6-CD0525350B3F}"/>
              </a:ext>
            </a:extLst>
          </p:cNvPr>
          <p:cNvSpPr/>
          <p:nvPr/>
        </p:nvSpPr>
        <p:spPr>
          <a:xfrm>
            <a:off x="9572068" y="4950957"/>
            <a:ext cx="1479572" cy="36512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BE71B70-5FE9-2498-1F88-6CAE50B78CC3}"/>
              </a:ext>
            </a:extLst>
          </p:cNvPr>
          <p:cNvCxnSpPr>
            <a:stCxn id="14" idx="2"/>
            <a:endCxn id="18" idx="0"/>
          </p:cNvCxnSpPr>
          <p:nvPr/>
        </p:nvCxnSpPr>
        <p:spPr>
          <a:xfrm flipH="1">
            <a:off x="9138195" y="4469264"/>
            <a:ext cx="1" cy="481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FC6A86F3-ED23-DFF3-2C2B-A3CA349B6E23}"/>
              </a:ext>
            </a:extLst>
          </p:cNvPr>
          <p:cNvCxnSpPr>
            <a:stCxn id="14" idx="2"/>
          </p:cNvCxnSpPr>
          <p:nvPr/>
        </p:nvCxnSpPr>
        <p:spPr>
          <a:xfrm>
            <a:off x="9138196" y="4469264"/>
            <a:ext cx="602963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56FEB55-0A87-40CA-F270-0102F22E2105}"/>
              </a:ext>
            </a:extLst>
          </p:cNvPr>
          <p:cNvCxnSpPr>
            <a:stCxn id="14" idx="2"/>
          </p:cNvCxnSpPr>
          <p:nvPr/>
        </p:nvCxnSpPr>
        <p:spPr>
          <a:xfrm>
            <a:off x="9138196" y="4469264"/>
            <a:ext cx="733592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F554CEB-F243-B880-BCA7-DCCB3384B181}"/>
              </a:ext>
            </a:extLst>
          </p:cNvPr>
          <p:cNvCxnSpPr>
            <a:stCxn id="14" idx="2"/>
          </p:cNvCxnSpPr>
          <p:nvPr/>
        </p:nvCxnSpPr>
        <p:spPr>
          <a:xfrm>
            <a:off x="9138196" y="4469264"/>
            <a:ext cx="956889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9E6CA6C-5569-44B6-29D2-2F386C23B19C}"/>
              </a:ext>
            </a:extLst>
          </p:cNvPr>
          <p:cNvCxnSpPr>
            <a:stCxn id="15" idx="1"/>
            <a:endCxn id="52" idx="0"/>
          </p:cNvCxnSpPr>
          <p:nvPr/>
        </p:nvCxnSpPr>
        <p:spPr>
          <a:xfrm flipH="1">
            <a:off x="10311854" y="4286702"/>
            <a:ext cx="305913" cy="6642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5D44ED98-6E7C-29AD-A568-C7C873428949}"/>
              </a:ext>
            </a:extLst>
          </p:cNvPr>
          <p:cNvCxnSpPr>
            <a:stCxn id="15" idx="2"/>
          </p:cNvCxnSpPr>
          <p:nvPr/>
        </p:nvCxnSpPr>
        <p:spPr>
          <a:xfrm flipH="1">
            <a:off x="10459616" y="4469264"/>
            <a:ext cx="592025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A37C1EF-DDF3-136C-5A15-59949FA1F88A}"/>
              </a:ext>
            </a:extLst>
          </p:cNvPr>
          <p:cNvCxnSpPr>
            <a:stCxn id="15" idx="2"/>
          </p:cNvCxnSpPr>
          <p:nvPr/>
        </p:nvCxnSpPr>
        <p:spPr>
          <a:xfrm flipH="1">
            <a:off x="10617767" y="4469264"/>
            <a:ext cx="433874" cy="4816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FB24ED8-B2DD-DF3D-1825-22C329D6067B}"/>
              </a:ext>
            </a:extLst>
          </p:cNvPr>
          <p:cNvCxnSpPr>
            <a:stCxn id="15" idx="3"/>
            <a:endCxn id="19" idx="0"/>
          </p:cNvCxnSpPr>
          <p:nvPr/>
        </p:nvCxnSpPr>
        <p:spPr>
          <a:xfrm>
            <a:off x="11485514" y="4286702"/>
            <a:ext cx="0" cy="6826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884A8CB-7233-74C0-5A10-A8F05CF22BB4}"/>
              </a:ext>
            </a:extLst>
          </p:cNvPr>
          <p:cNvSpPr txBox="1"/>
          <p:nvPr/>
        </p:nvSpPr>
        <p:spPr>
          <a:xfrm>
            <a:off x="4038600" y="5782719"/>
            <a:ext cx="7859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Recursively divide work into smaller subtasks, process in parallel, join results.</a:t>
            </a:r>
          </a:p>
        </p:txBody>
      </p:sp>
    </p:spTree>
    <p:extLst>
      <p:ext uri="{BB962C8B-B14F-4D97-AF65-F5344CB8AC3E}">
        <p14:creationId xmlns:p14="http://schemas.microsoft.com/office/powerpoint/2010/main" val="3269620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43CD8-E4A5-BFDC-BF69-10B16F053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CEDAD-E8A6-C30A-5B20-44499D867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D2689-73FA-AB3E-2B5A-F93D1516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B9D18-01E5-5303-F9EF-3AB021EA3F46}"/>
              </a:ext>
            </a:extLst>
          </p:cNvPr>
          <p:cNvSpPr txBox="1"/>
          <p:nvPr/>
        </p:nvSpPr>
        <p:spPr>
          <a:xfrm>
            <a:off x="404037" y="265074"/>
            <a:ext cx="2282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Active Object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305A7-FC7C-F609-6BCC-6A903DAF3BD8}"/>
              </a:ext>
            </a:extLst>
          </p:cNvPr>
          <p:cNvSpPr txBox="1"/>
          <p:nvPr/>
        </p:nvSpPr>
        <p:spPr>
          <a:xfrm>
            <a:off x="420150" y="1763120"/>
            <a:ext cx="23230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interface MyInterface {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void doA();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  void doB();</a:t>
            </a:r>
          </a:p>
          <a:p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06356B-7CFA-0DCB-27DE-7395583D16FF}"/>
              </a:ext>
            </a:extLst>
          </p:cNvPr>
          <p:cNvSpPr txBox="1"/>
          <p:nvPr/>
        </p:nvSpPr>
        <p:spPr>
          <a:xfrm>
            <a:off x="6296315" y="137648"/>
            <a:ext cx="4733988" cy="63248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class ActiveObject&lt;T extends MyInterface&gt; implements MyInterface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private T sourceObj;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private Thread t;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private BlockingQueue&lt;Runnable&gt; dispatchQueue =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new LinkedBlockingQueue&lt;Runnable&gt;();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public MyActiveObject(T sourceObj)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this.sourceObj = sourceObj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this.t = new Thread (new Runnable()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public void run()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try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while (true)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  dispatchQueue.take().run();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} catch (InterruptedException e) {   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  // okay, just terminate the dispatcher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this.t.start();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public void doA()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dispatchQueue.put(new Runnable()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public void run() { t.sourceObj.doA();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public void doB()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dispatchQueue.put(new Runnable()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@Override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  public void run() { t.sourceObj.doB();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});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endParaRPr lang="en-US" sz="9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public void stop() {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this.t.interrupt();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  this.t.join();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9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D4C356-6622-EAF9-761F-069DE39ACCE9}"/>
              </a:ext>
            </a:extLst>
          </p:cNvPr>
          <p:cNvSpPr txBox="1"/>
          <p:nvPr/>
        </p:nvSpPr>
        <p:spPr>
          <a:xfrm>
            <a:off x="404037" y="867267"/>
            <a:ext cx="493898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The active object design pattern decouples method execution</a:t>
            </a:r>
          </a:p>
          <a:p>
            <a:r>
              <a:rPr lang="en-US" sz="1400"/>
              <a:t>from method invocation for objects that each reside in their</a:t>
            </a:r>
          </a:p>
          <a:p>
            <a:r>
              <a:rPr lang="en-US" sz="1400"/>
              <a:t>own thread of control.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927D50-91B2-A5A5-970A-FBA45F11C70A}"/>
              </a:ext>
            </a:extLst>
          </p:cNvPr>
          <p:cNvSpPr txBox="1"/>
          <p:nvPr/>
        </p:nvSpPr>
        <p:spPr>
          <a:xfrm>
            <a:off x="420150" y="2751306"/>
            <a:ext cx="310854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class MyClass implements MyInterface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public void doA() {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  // whatever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5B6FB5-6014-9677-4FCC-4ECD5E15E00F}"/>
              </a:ext>
            </a:extLst>
          </p:cNvPr>
          <p:cNvSpPr txBox="1"/>
          <p:nvPr/>
        </p:nvSpPr>
        <p:spPr>
          <a:xfrm>
            <a:off x="404037" y="4263884"/>
            <a:ext cx="4416594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MyClass mc = new MyClass();</a:t>
            </a:r>
            <a:b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ActiveObject&lt; MyInterface&gt; ao = new ActiveObject&lt;&gt;(mc);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executor.submit(() -&gt;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ao.doA();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executor.submit(() -&gt; {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  ao.doB();</a:t>
            </a:r>
          </a:p>
          <a:p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3281594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FD7BD-47AA-26D3-8628-CA231A11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C86933-98ED-15FC-057C-125103C1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A460E-616D-F301-D6A0-875CDB466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ECFFBE-A508-7483-FA04-8BE2C564A340}"/>
              </a:ext>
            </a:extLst>
          </p:cNvPr>
          <p:cNvSpPr txBox="1"/>
          <p:nvPr/>
        </p:nvSpPr>
        <p:spPr>
          <a:xfrm>
            <a:off x="404037" y="265074"/>
            <a:ext cx="1737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Reactor Pattern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620CF8-3FDD-3B39-8551-FAE89CA684EC}"/>
              </a:ext>
            </a:extLst>
          </p:cNvPr>
          <p:cNvSpPr txBox="1"/>
          <p:nvPr/>
        </p:nvSpPr>
        <p:spPr>
          <a:xfrm>
            <a:off x="354556" y="848413"/>
            <a:ext cx="11720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 reactor pattern is an event handling strategy that can respond to many potential service requests concurrently.</a:t>
            </a:r>
          </a:p>
          <a:p>
            <a:r>
              <a:rPr lang="en-US"/>
              <a:t>The pattern's key component is an </a:t>
            </a:r>
            <a:r>
              <a:rPr lang="en-US" b="1">
                <a:solidFill>
                  <a:srgbClr val="FF0000"/>
                </a:solidFill>
              </a:rPr>
              <a:t>event loop, running in a single thread or process</a:t>
            </a:r>
            <a:r>
              <a:rPr lang="en-US"/>
              <a:t>, which demultiplexes incoming</a:t>
            </a:r>
          </a:p>
          <a:p>
            <a:r>
              <a:rPr lang="en-US"/>
              <a:t>requests and dispatches them to the correct request handler.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8F47F8-6B45-9C5D-B7C1-CDC29A31672A}"/>
              </a:ext>
            </a:extLst>
          </p:cNvPr>
          <p:cNvSpPr txBox="1"/>
          <p:nvPr/>
        </p:nvSpPr>
        <p:spPr>
          <a:xfrm>
            <a:off x="583147" y="2112724"/>
            <a:ext cx="4158511" cy="9541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while (!program_terminated)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message = get_message_from_queue();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process_message(message);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50175-A242-EEEC-DAA2-78368D004B08}"/>
              </a:ext>
            </a:extLst>
          </p:cNvPr>
          <p:cNvSpPr txBox="1"/>
          <p:nvPr/>
        </p:nvSpPr>
        <p:spPr>
          <a:xfrm>
            <a:off x="583146" y="3586993"/>
            <a:ext cx="437331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setTimeout(() =&gt; {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// This is executed in the event loop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  console.log('World!');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}, 1000);</a:t>
            </a:r>
          </a:p>
          <a:p>
            <a:endParaRPr lang="en-US" sz="1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// This is executed first</a:t>
            </a:r>
          </a:p>
          <a:p>
            <a:r>
              <a:rPr lang="en-US" sz="1400">
                <a:latin typeface="Courier New" panose="02070309020205020404" pitchFamily="49" charset="0"/>
                <a:cs typeface="Courier New" panose="02070309020205020404" pitchFamily="49" charset="0"/>
              </a:rPr>
              <a:t>console.log('Hello’);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C568AF-D76D-9026-9FA8-FEFF90DDA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191" y="1969996"/>
            <a:ext cx="5592609" cy="4039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920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162B8-3B75-C76F-FA79-D5CB84EDF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F92A5-7EFB-E271-B2BF-52A10D038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1E14-7DF1-6697-609D-63F4CF63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ACD6B-A465-98B5-3305-006F16CFFE74}"/>
              </a:ext>
            </a:extLst>
          </p:cNvPr>
          <p:cNvSpPr txBox="1"/>
          <p:nvPr/>
        </p:nvSpPr>
        <p:spPr>
          <a:xfrm>
            <a:off x="404037" y="265074"/>
            <a:ext cx="557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Reactor Pattern =&gt; only concurrency, not parallelism!!!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C2535E-8015-446B-00AB-DCF10BC1A6FC}"/>
              </a:ext>
            </a:extLst>
          </p:cNvPr>
          <p:cNvSpPr txBox="1"/>
          <p:nvPr/>
        </p:nvSpPr>
        <p:spPr>
          <a:xfrm>
            <a:off x="404037" y="872909"/>
            <a:ext cx="5961888" cy="19543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async function arraySum(values: number[]): Promise&lt;number&gt; {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return Promise.resolve(values.reduce((acc, val) =&gt; acc + val, 0));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const table: number[][] = [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Array.from({length: 100}, (x, i) =&gt; i),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Array.from({length: 300}, (x, i) =&gt; i + 1000),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Array.from({length: 2000}, (x, i) =&gt; i -10000)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const values = await Promise.all(table.map((arr) =&gt; arraySum(arr)));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31A96-C31A-EEA8-210F-6BA6F3F66F93}"/>
              </a:ext>
            </a:extLst>
          </p:cNvPr>
          <p:cNvSpPr txBox="1"/>
          <p:nvPr/>
        </p:nvSpPr>
        <p:spPr>
          <a:xfrm>
            <a:off x="404037" y="3292047"/>
            <a:ext cx="65172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We’re NOT running three threads in parallel here!!!</a:t>
            </a:r>
          </a:p>
          <a:p>
            <a:endParaRPr lang="en-US"/>
          </a:p>
          <a:p>
            <a:r>
              <a:rPr lang="en-US"/>
              <a:t>This code is CPU-bound only, there’s no I/O subsystem involved.</a:t>
            </a:r>
          </a:p>
          <a:p>
            <a:r>
              <a:rPr lang="en-US"/>
              <a:t>As the event loop is single-threaded,</a:t>
            </a:r>
          </a:p>
          <a:p>
            <a:r>
              <a:rPr lang="en-US"/>
              <a:t>each async is executed one after the other.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4EC806-E3DB-7738-925A-3CEA61CF6A9C}"/>
              </a:ext>
            </a:extLst>
          </p:cNvPr>
          <p:cNvSpPr txBox="1"/>
          <p:nvPr/>
        </p:nvSpPr>
        <p:spPr>
          <a:xfrm>
            <a:off x="7654255" y="1296101"/>
            <a:ext cx="4347665" cy="16158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import * as fs from "node:fs/promises";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fs.readFile("big_file_1.txt").then((content) =&gt; {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 // parse content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endParaRPr lang="en-US" sz="11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fs.readFile("big_file_2.txt").then((content) =&gt; {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 // parse content</a:t>
            </a:r>
          </a:p>
          <a:p>
            <a:r>
              <a:rPr lang="en-US" sz="1100"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53C282-3466-1B56-3717-0C2AAEB08897}"/>
              </a:ext>
            </a:extLst>
          </p:cNvPr>
          <p:cNvSpPr txBox="1"/>
          <p:nvPr/>
        </p:nvSpPr>
        <p:spPr>
          <a:xfrm>
            <a:off x="7654255" y="3292047"/>
            <a:ext cx="38976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code runs in parallel in the I/O</a:t>
            </a:r>
          </a:p>
          <a:p>
            <a:r>
              <a:rPr lang="en-US"/>
              <a:t>subsystem, BUT the two future callbacks will be executed sequentially, according to which file will be completed first.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FCAAF-036B-0CA3-8DD4-BA6949899478}"/>
              </a:ext>
            </a:extLst>
          </p:cNvPr>
          <p:cNvSpPr txBox="1"/>
          <p:nvPr/>
        </p:nvSpPr>
        <p:spPr>
          <a:xfrm>
            <a:off x="453843" y="5234132"/>
            <a:ext cx="568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To run something really in parallel, you need JS Workers.</a:t>
            </a:r>
          </a:p>
        </p:txBody>
      </p:sp>
    </p:spTree>
    <p:extLst>
      <p:ext uri="{BB962C8B-B14F-4D97-AF65-F5344CB8AC3E}">
        <p14:creationId xmlns:p14="http://schemas.microsoft.com/office/powerpoint/2010/main" val="2358651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E0955-D571-BCC0-B6E5-6E7D9667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7F8DF4-E82D-3235-3514-241CABA8E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Concurrency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B0FA0-3A98-81D9-8C08-82043E51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81C8F-CB39-4E4D-98E4-8C3FEDF75126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38D71F-3319-5F87-F0C0-D833DA071A9D}"/>
              </a:ext>
            </a:extLst>
          </p:cNvPr>
          <p:cNvSpPr txBox="1"/>
          <p:nvPr/>
        </p:nvSpPr>
        <p:spPr>
          <a:xfrm>
            <a:off x="404037" y="265074"/>
            <a:ext cx="1257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Takeaways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933D60-4E35-75A2-60DD-7F4BEBD83CE9}"/>
              </a:ext>
            </a:extLst>
          </p:cNvPr>
          <p:cNvSpPr txBox="1"/>
          <p:nvPr/>
        </p:nvSpPr>
        <p:spPr>
          <a:xfrm>
            <a:off x="475861" y="1091681"/>
            <a:ext cx="798192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thread pools =&gt; Avoid thread creation overhead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Prefer immutability =&gt; Eliminate synchronization needs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high-level concurrency APIs =&gt; Fewer bugs than low-level 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Limit concurrency =&gt; Prevent resource exhaustion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scoped resource =&gt; Guarantee resource cleanup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virtual threads =&gt; Scale to millions of threads (if allowed by the runtime)</a:t>
            </a:r>
          </a:p>
        </p:txBody>
      </p:sp>
    </p:spTree>
    <p:extLst>
      <p:ext uri="{BB962C8B-B14F-4D97-AF65-F5344CB8AC3E}">
        <p14:creationId xmlns:p14="http://schemas.microsoft.com/office/powerpoint/2010/main" val="32304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2151</TotalTime>
  <Words>2626</Words>
  <Application>Microsoft Macintosh PowerPoint</Application>
  <PresentationFormat>Widescreen</PresentationFormat>
  <Paragraphs>538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56</cp:revision>
  <dcterms:created xsi:type="dcterms:W3CDTF">2025-02-19T20:33:39Z</dcterms:created>
  <dcterms:modified xsi:type="dcterms:W3CDTF">2025-12-09T21:44:14Z</dcterms:modified>
</cp:coreProperties>
</file>